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97280"/>
            <a:ext cx="7315200" cy="2926080"/>
          </a:xfrm>
          <a:prstGeom prst="rect">
            <a:avLst/>
          </a:prstGeom>
          <a:noFill/>
        </p:spPr>
        <p:txBody>
          <a:bodyPr wrap="square">
            <a:spAutoFit/>
          </a:bodyPr>
          <a:lstStyle/>
          <a:p>
            <a:pPr>
              <a:defRPr sz="1200" b="1">
                <a:solidFill>
                  <a:srgbClr val="2563EB"/>
                </a:solidFill>
              </a:defRPr>
            </a:pPr>
            <a:r>
              <a:t>HỌC MÁY CƠ BẢN (12523W.1) • PGS.TS. NGUYỄN VĂN HẬU</a:t>
            </a:r>
          </a:p>
          <a:p>
            <a:pPr>
              <a:defRPr sz="2400" b="1">
                <a:solidFill>
                  <a:srgbClr val="0F172A"/>
                </a:solidFill>
              </a:defRPr>
            </a:pPr>
            <a:r>
              <a:t>PROJECT 19: DỰ ĐOÁN PHIÊN MUA HÀNG VỚI KIỂM TOÁN RÒ RỈ</a:t>
            </a:r>
          </a:p>
          <a:p>
            <a:pPr>
              <a:defRPr sz="1300" i="1">
                <a:solidFill>
                  <a:srgbClr val="475569"/>
                </a:solidFill>
              </a:defRPr>
            </a:pPr>
            <a:r>
              <a:t>Chủ đề Bài 7: Rò rỉ dữ liệu, chia tập đúng và đánh giá trung thực</a:t>
            </a:r>
            <a:br/>
            <a:r>
              <a:t>Đơn vị quan sát: Bản tóm tắt tổng hợp cuối phiên (End-of-Session Aggregate)</a:t>
            </a:r>
          </a:p>
          <a:p>
            <a:br/>
            <a:pPr>
              <a:defRPr sz="1100">
                <a:solidFill>
                  <a:srgbClr val="64748B"/>
                </a:solidFill>
              </a:defRPr>
            </a:pPr>
            <a:r>
              <a:t>Nhóm 02 Sinh viên: Sinh viên A &amp; Sinh viên B | Thời lượng trình bày: 12–15 phút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1. Bối Cảnh Thực Tiễn &amp; Tuyên Bố Phạm Vi Bắt Buộc</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300">
                <a:solidFill>
                  <a:srgbClr val="334155"/>
                </a:solidFill>
              </a:defRPr>
            </a:pPr>
            <a:r>
              <a:t>• Bối cảnh bài toán: Nhóm marketing muốn phân loại phiên duyệt web kết thúc bằng giao dịch (Revenue = True) để tối ưu chi phí quảng cáo và can thiệp kích cầu.</a:t>
            </a:r>
          </a:p>
          <a:p>
            <a:pPr>
              <a:defRPr sz="1300">
                <a:solidFill>
                  <a:srgbClr val="334155"/>
                </a:solidFill>
              </a:defRPr>
            </a:pPr>
            <a:r>
              <a:t>• Câu hỏi nghiên cứu: Kết quả thay đổi thế nào khi loại bỏ biến gần mục tiêu và mô tả đúng thời điểm dự đoán?</a:t>
            </a:r>
          </a:p>
          <a:p>
            <a:pPr>
              <a:defRPr sz="1300">
                <a:solidFill>
                  <a:srgbClr val="334155"/>
                </a:solidFill>
              </a:defRPr>
            </a:pPr>
            <a:r>
              <a:t>• Tuyên bố phạm vi không thương lượng: Đơn vị quan sát là một phiên web đã tổng hợp sau khi phiên kết thúc (End-of-Session Summary).</a:t>
            </a:r>
          </a:p>
          <a:p>
            <a:pPr>
              <a:defRPr sz="1300">
                <a:solidFill>
                  <a:srgbClr val="334155"/>
                </a:solidFill>
              </a:defRPr>
            </a:pPr>
            <a:r>
              <a:t>• CẢNH BÁO QUAN TRỌNG: Tuyệt đối không gọi là dự đoán 'trong vài phút đầu', vì dữ liệu không chứa dấu thời gian sự kiện (event-level snapshot). Thuộc tính thời gian (ví dụ: ProductRelated_Duration) là tổng thời gian của cả phiên.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2. Kiểm Toán Rò Rỉ: Bản Chất Của Biến PageValues</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300">
                <a:solidFill>
                  <a:srgbClr val="334155"/>
                </a:solidFill>
              </a:defRPr>
            </a:pPr>
            <a:r>
              <a:t>• Công thức Google Analytics: Page Value = (Ecommerce Revenue + Total Goal Value) / Unique Pageviews.</a:t>
            </a:r>
          </a:p>
          <a:p>
            <a:pPr>
              <a:defRPr sz="1300">
                <a:solidFill>
                  <a:srgbClr val="334155"/>
                </a:solidFill>
              </a:defRPr>
            </a:pPr>
            <a:r>
              <a:t>• Cơ chế rò rỉ (Outcome Proxy Leakage): Khi khách hàng hoàn tất mua hàng, hệ thống analytics gán ngược giá trị doanh thu vào các trang người đó đã xem.</a:t>
            </a:r>
          </a:p>
          <a:p>
            <a:pPr>
              <a:defRPr sz="1300">
                <a:solidFill>
                  <a:srgbClr val="334155"/>
                </a:solidFill>
              </a:defRPr>
            </a:pPr>
            <a:r>
              <a:t>• Bằng chứng từ dữ liệu: Phiên Không Mua có PageValues trung bình chỉ 1.98 (75% bằng 0). Phiên Có Mua có PageValues trung bình tới 27.26 (trung vị 16.76).</a:t>
            </a:r>
          </a:p>
          <a:p>
            <a:pPr>
              <a:defRPr sz="1300">
                <a:solidFill>
                  <a:srgbClr val="334155"/>
                </a:solidFill>
              </a:defRPr>
            </a:pPr>
            <a:r>
              <a:t>• Hậu quả: Mô hình học theo lối tắt (shortcut learning), đạt điểm số ảo nhưng thất bại hoàn toàn khi triển khai thực tế. Do đó, PageValues BẮT BUỘC LOẠI KHỎI mô hình chính!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3. Dữ Liệu Thực Tế: Online Shoppers Purchasing Intention</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300">
                <a:solidFill>
                  <a:srgbClr val="334155"/>
                </a:solidFill>
              </a:defRPr>
            </a:pPr>
            <a:r>
              <a:t>• Nguồn: UCI Machine Learning Repository (DOI: 10.24432/C5F88Q), giấy phép CC BY 4.0.</a:t>
            </a:r>
          </a:p>
          <a:p>
            <a:pPr>
              <a:defRPr sz="1300">
                <a:solidFill>
                  <a:srgbClr val="334155"/>
                </a:solidFill>
              </a:defRPr>
            </a:pPr>
            <a:r>
              <a:t>• Quy mô: 12.330 phiên quan sát, 18 thuộc tính, 0 giá trị thiếu (missing values).</a:t>
            </a:r>
          </a:p>
          <a:p>
            <a:pPr>
              <a:defRPr sz="1300">
                <a:solidFill>
                  <a:srgbClr val="334155"/>
                </a:solidFill>
              </a:defRPr>
            </a:pPr>
            <a:r>
              <a:t>• Mất cân bằng lớp nặng: 1.908 phiên mua hàng (15.5%), 10.422 phiên không mua (84.5%).</a:t>
            </a:r>
          </a:p>
          <a:p>
            <a:pPr>
              <a:defRPr sz="1300">
                <a:solidFill>
                  <a:srgbClr val="334155"/>
                </a:solidFill>
              </a:defRPr>
            </a:pPr>
            <a:r>
              <a:t>• Xử lý 125 dòng trùng lặp: Phát hiện 125 dòng trùng lặp hoàn toàn. Cần loại bỏ ngay từ đầu để tránh split leakage (cùng 1 phiên rơi vào cả Train và Test). Còn lại 12.205 phiên sạch.</a:t>
            </a:r>
          </a:p>
          <a:p>
            <a:pPr>
              <a:defRPr sz="1300">
                <a:solidFill>
                  <a:srgbClr val="334155"/>
                </a:solidFill>
              </a:defRPr>
            </a:pPr>
            <a:r>
              <a:t>• Mã băm toàn vẹn: MD5 = cc6ec1db03b4f10f8de52c56ff48b085.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4. Quy Tắc Không Thương Lượng: Chia Tập &amp; Pipeline</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300">
                <a:solidFill>
                  <a:srgbClr val="334155"/>
                </a:solidFill>
              </a:defRPr>
            </a:pPr>
            <a:r>
              <a:t>• Chia tập độc lập trước mọi bước: Train (70% - 8.543 phiên), Validation (15% - 1.831 phiên), Test (15% - 1.831 phiên).</a:t>
            </a:r>
          </a:p>
          <a:p>
            <a:pPr>
              <a:defRPr sz="1300">
                <a:solidFill>
                  <a:srgbClr val="334155"/>
                </a:solidFill>
              </a:defRPr>
            </a:pPr>
            <a:r>
              <a:t>• Tập Test đóng băng: Chỉ nạp và đánh giá một lần duy nhất ở bước kết luận. Không dùng Test để chọn mô hình hay chỉnh ngưỡng.</a:t>
            </a:r>
          </a:p>
          <a:p>
            <a:pPr>
              <a:defRPr sz="1300">
                <a:solidFill>
                  <a:srgbClr val="334155"/>
                </a:solidFill>
              </a:defRPr>
            </a:pPr>
            <a:r>
              <a:t>• Tiền xử lý fit đúng phần Train: StandardScaler và OneHotEncoder chỉ fit trên Train; Val và Test chỉ áp dụng transform().</a:t>
            </a:r>
          </a:p>
          <a:p>
            <a:pPr>
              <a:defRPr sz="1300">
                <a:solidFill>
                  <a:srgbClr val="334155"/>
                </a:solidFill>
              </a:defRPr>
            </a:pPr>
            <a:r>
              <a:t>• Tối ưu siêu tham số: Áp dụng 5-Fold Stratified Cross-Validation trên Train, tối ưu hóa theo PR-AUC (Average Precision score) và điều chỉnh ngưỡng theo F1 trên Validation.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5. Thí Nghiệm 1: Tính Ổn Định Của Stratified Split Qua Seed</a:t>
            </a:r>
          </a:p>
        </p:txBody>
      </p:sp>
      <p:sp>
        <p:nvSpPr>
          <p:cNvPr id="3" name="TextBox 2"/>
          <p:cNvSpPr txBox="1"/>
          <p:nvPr/>
        </p:nvSpPr>
        <p:spPr>
          <a:xfrm>
            <a:off x="731520" y="1280160"/>
            <a:ext cx="4114800" cy="3474720"/>
          </a:xfrm>
          <a:prstGeom prst="rect">
            <a:avLst/>
          </a:prstGeom>
          <a:noFill/>
        </p:spPr>
        <p:txBody>
          <a:bodyPr wrap="square">
            <a:spAutoFit/>
          </a:bodyPr>
          <a:lstStyle/>
          <a:p/>
          <a:p>
            <a:pPr>
              <a:defRPr sz="1100"/>
            </a:pPr>
            <a:r>
              <a:t>• Mục tiêu: Đánh giá độ ổn định của chia phân tầng (Stratified) so với ngẫu nhiên không phân tầng (Unstratified) qua 5 seed (42, 100, 2024, 777, 999).</a:t>
            </a:r>
          </a:p>
          <a:p>
            <a:pPr>
              <a:defRPr sz="1100"/>
            </a:pPr>
            <a:r>
              <a:t>• Kết quả Stratified: Giữ nguyên tỷ lệ nhãn dương cố định 15.62% trên cả Train và Test; PR-AUC ổn định (0.328 ± 0.007).</a:t>
            </a:r>
          </a:p>
          <a:p>
            <a:pPr>
              <a:defRPr sz="1100"/>
            </a:pPr>
            <a:r>
              <a:t>• Kết quả Unstratified: Tỷ lệ dương dao động từ 14.8% đến 16.9%, dẫn tới phương sai hiệu năng cao hơn.</a:t>
            </a:r>
          </a:p>
          <a:p>
            <a:pPr>
              <a:defRPr sz="1100"/>
            </a:pPr>
            <a:r>
              <a:t>• Kết luận: Phân chia phân tầng là bắt buộc đối với dữ liệu mất cân bằng.</a:t>
            </a:r>
          </a:p>
        </p:txBody>
      </p:sp>
      <p:pic>
        <p:nvPicPr>
          <p:cNvPr id="4" name="Picture 3" descr="exp1_seed_stability.png"/>
          <p:cNvPicPr>
            <a:picLocks noChangeAspect="1"/>
          </p:cNvPicPr>
          <p:nvPr/>
        </p:nvPicPr>
        <p:blipFill>
          <a:blip r:embed="rId2"/>
          <a:stretch>
            <a:fillRect/>
          </a:stretch>
        </p:blipFill>
        <p:spPr>
          <a:xfrm>
            <a:off x="4937760" y="1371600"/>
            <a:ext cx="3840480" cy="14771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6. Thí Nghiệm 2: Kiểm Toán Rò Rỉ (Naive vs Honest Models)</a:t>
            </a:r>
          </a:p>
        </p:txBody>
      </p:sp>
      <p:sp>
        <p:nvSpPr>
          <p:cNvPr id="3" name="TextBox 2"/>
          <p:cNvSpPr txBox="1"/>
          <p:nvPr/>
        </p:nvSpPr>
        <p:spPr>
          <a:xfrm>
            <a:off x="731520" y="1280160"/>
            <a:ext cx="4114800" cy="3474720"/>
          </a:xfrm>
          <a:prstGeom prst="rect">
            <a:avLst/>
          </a:prstGeom>
          <a:noFill/>
        </p:spPr>
        <p:txBody>
          <a:bodyPr wrap="square">
            <a:spAutoFit/>
          </a:bodyPr>
          <a:lstStyle/>
          <a:p/>
          <a:p>
            <a:pPr>
              <a:defRPr sz="1100"/>
            </a:pPr>
            <a:r>
              <a:t>• So sánh mô hình trên tập Test độc lập:</a:t>
            </a:r>
          </a:p>
          <a:p>
            <a:pPr>
              <a:defRPr sz="1100"/>
            </a:pPr>
            <a:r>
              <a:t>• • Naive Random Forest (+PageValues): PR-AUC = 0.7305, ROC-AUC = 0.9282.</a:t>
            </a:r>
          </a:p>
          <a:p>
            <a:pPr>
              <a:defRPr sz="1100"/>
            </a:pPr>
            <a:r>
              <a:t>• • Honest Random Forest (Bỏ PageValues): PR-AUC = 0.3709, ROC-AUC = 0.7822.</a:t>
            </a:r>
          </a:p>
          <a:p>
            <a:pPr>
              <a:defRPr sz="1100"/>
            </a:pPr>
            <a:r>
              <a:t>• Sự sụp đổ điểm số (~50% PR-AUC): Phản ánh đúng lượng thông tin rò rỉ bị loại bỏ.</a:t>
            </a:r>
          </a:p>
          <a:p>
            <a:pPr>
              <a:defRPr sz="1100"/>
            </a:pPr>
            <a:r>
              <a:t>• Chuyển dịch trọng số (Feature Importance Shift): PageValues chiếm &gt;65% trọng số trong Naive RF. Khi loại bỏ, thời gian xem sản phẩm và tỷ lệ thoát trở lại đúng vai trò thực tế.</a:t>
            </a:r>
          </a:p>
        </p:txBody>
      </p:sp>
      <p:pic>
        <p:nvPicPr>
          <p:cNvPr id="4" name="Picture 3" descr="exp2_leakage_audit_comparison.png"/>
          <p:cNvPicPr>
            <a:picLocks noChangeAspect="1"/>
          </p:cNvPicPr>
          <p:nvPr/>
        </p:nvPicPr>
        <p:blipFill>
          <a:blip r:embed="rId2"/>
          <a:stretch>
            <a:fillRect/>
          </a:stretch>
        </p:blipFill>
        <p:spPr>
          <a:xfrm>
            <a:off x="4937760" y="1371600"/>
            <a:ext cx="3840480" cy="147710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7. Thí Nghiệm 3: Precision-Recall Curve Do Mất Cân Bằng</a:t>
            </a:r>
          </a:p>
        </p:txBody>
      </p:sp>
      <p:sp>
        <p:nvSpPr>
          <p:cNvPr id="3" name="TextBox 2"/>
          <p:cNvSpPr txBox="1"/>
          <p:nvPr/>
        </p:nvSpPr>
        <p:spPr>
          <a:xfrm>
            <a:off x="731520" y="1280160"/>
            <a:ext cx="4114800" cy="3474720"/>
          </a:xfrm>
          <a:prstGeom prst="rect">
            <a:avLst/>
          </a:prstGeom>
          <a:noFill/>
        </p:spPr>
        <p:txBody>
          <a:bodyPr wrap="square">
            <a:spAutoFit/>
          </a:bodyPr>
          <a:lstStyle/>
          <a:p/>
          <a:p>
            <a:pPr>
              <a:defRPr sz="1100"/>
            </a:pPr>
            <a:r>
              <a:t>• Vấn đề của ROC Curve: Số lượng True Negatives rất lớn làm mẫu số FPR tăng cao, khiến đường ROC bị phồng to giả tạo (ROC-AUC 0.78 - 0.93).</a:t>
            </a:r>
          </a:p>
          <a:p>
            <a:pPr>
              <a:defRPr sz="1100"/>
            </a:pPr>
            <a:r>
              <a:t>• Ưu thế của PR Curve: Tập trung trực tiếp vào lớp thiểu số (Precision và Recall), loại bỏ tác động của True Negatives.</a:t>
            </a:r>
          </a:p>
          <a:p>
            <a:pPr>
              <a:defRPr sz="1100"/>
            </a:pPr>
            <a:r>
              <a:t>• Đường cơ sở No-Skill Baseline: Trên PR Curve là đường nằm ngang tại y = 0.156 (tỷ lệ lớp dương).</a:t>
            </a:r>
          </a:p>
          <a:p>
            <a:pPr>
              <a:defRPr sz="1100"/>
            </a:pPr>
            <a:r>
              <a:t>• Kết quả Honest RF: Đạt AP = 0.371, cao gấp đôi No-Skill Baseline, chứng minh mô hình học được tín hiệu phân biệt thực tế.</a:t>
            </a:r>
          </a:p>
        </p:txBody>
      </p:sp>
      <p:pic>
        <p:nvPicPr>
          <p:cNvPr id="4" name="Picture 3" descr="exp3_pr_vs_roc_curve.png"/>
          <p:cNvPicPr>
            <a:picLocks noChangeAspect="1"/>
          </p:cNvPicPr>
          <p:nvPr/>
        </p:nvPicPr>
        <p:blipFill>
          <a:blip r:embed="rId2"/>
          <a:stretch>
            <a:fillRect/>
          </a:stretch>
        </p:blipFill>
        <p:spPr>
          <a:xfrm>
            <a:off x="4937760" y="1371600"/>
            <a:ext cx="3840480" cy="1645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8. Thí Nghiệm 4: Calibration Curve &amp; Phân Tích Sai Số</a:t>
            </a:r>
          </a:p>
        </p:txBody>
      </p:sp>
      <p:sp>
        <p:nvSpPr>
          <p:cNvPr id="3" name="TextBox 2"/>
          <p:cNvSpPr txBox="1"/>
          <p:nvPr/>
        </p:nvSpPr>
        <p:spPr>
          <a:xfrm>
            <a:off x="731520" y="1280160"/>
            <a:ext cx="4114800" cy="3474720"/>
          </a:xfrm>
          <a:prstGeom prst="rect">
            <a:avLst/>
          </a:prstGeom>
          <a:noFill/>
        </p:spPr>
        <p:txBody>
          <a:bodyPr wrap="square">
            <a:spAutoFit/>
          </a:bodyPr>
          <a:lstStyle/>
          <a:p/>
          <a:p>
            <a:pPr>
              <a:defRPr sz="1100"/>
            </a:pPr>
            <a:r>
              <a:t>• Calibration (Reliability Diagram): Honest Random Forest bám sát đường chuẩn lý tưởng với Brier Score = 0.1756.</a:t>
            </a:r>
          </a:p>
          <a:p>
            <a:pPr>
              <a:defRPr sz="1100"/>
            </a:pPr>
            <a:r>
              <a:t>• Phân tích theo Tháng (Month): Mô hình đạt F1-score cao nhất vào Tháng 11 (Nov) với F1 &gt; 0.65 do khách hàng có ý định chốt đơn rất rõ trong đợt Black Friday.</a:t>
            </a:r>
          </a:p>
          <a:p>
            <a:pPr>
              <a:defRPr sz="1100"/>
            </a:pPr>
            <a:r>
              <a:t>• Phân tích theo Khách hàng (VisitorType): Khách mới (New_Visitor) có độ chính xác cao hơn khách quen, phản ánh hành vi mua hàng dứt khoát từ các chiến dịch tìm kiếm trả phí.</a:t>
            </a:r>
          </a:p>
        </p:txBody>
      </p:sp>
      <p:pic>
        <p:nvPicPr>
          <p:cNvPr id="4" name="Picture 3" descr="exp4_calibration_curve.png"/>
          <p:cNvPicPr>
            <a:picLocks noChangeAspect="1"/>
          </p:cNvPicPr>
          <p:nvPr/>
        </p:nvPicPr>
        <p:blipFill>
          <a:blip r:embed="rId2"/>
          <a:stretch>
            <a:fillRect/>
          </a:stretch>
        </p:blipFill>
        <p:spPr>
          <a:xfrm>
            <a:off x="4937760" y="1371600"/>
            <a:ext cx="3840480" cy="32918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9. Sản Phẩm Web Application &amp; Kiến Trúc REST API</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200">
                <a:solidFill>
                  <a:srgbClr val="334155"/>
                </a:solidFill>
              </a:defRPr>
            </a:pPr>
            <a:r>
              <a:t>• Kiến trúc phục vụ: Flask serving nạp các pipeline đã huấn luyện offline (models/pipeline_honest_best.joblib), độ trễ phản hồi &lt; 20ms.</a:t>
            </a:r>
          </a:p>
          <a:p>
            <a:pPr>
              <a:defRPr sz="1200">
                <a:solidFill>
                  <a:srgbClr val="334155"/>
                </a:solidFill>
              </a:defRPr>
            </a:pPr>
            <a:r>
              <a:t>• API POST /api/session-score: Schema validation đầy đủ, kiểm tra biên giá trị, trả mã HTTP 422 nếu lỗi định dạng.</a:t>
            </a:r>
          </a:p>
          <a:p>
            <a:pPr>
              <a:defRPr sz="1200">
                <a:solidFill>
                  <a:srgbClr val="334155"/>
                </a:solidFill>
              </a:defRPr>
            </a:pPr>
            <a:r>
              <a:t>• Giao diện 3 màn hình chuyên nghiệp:</a:t>
            </a:r>
          </a:p>
          <a:p>
            <a:pPr>
              <a:defRPr sz="1200">
                <a:solidFill>
                  <a:srgbClr val="334155"/>
                </a:solidFill>
              </a:defRPr>
            </a:pPr>
            <a:r>
              <a:t>•   • Màn hình 1: Bối cảnh, tuyên bố phạm vi &amp; giải thích rò rỉ dữ liệu.</a:t>
            </a:r>
          </a:p>
          <a:p>
            <a:pPr>
              <a:defRPr sz="1200">
                <a:solidFill>
                  <a:srgbClr val="334155"/>
                </a:solidFill>
              </a:defRPr>
            </a:pPr>
            <a:r>
              <a:t>•   • Màn hình 2: Form chấm điểm phiên tổng hợp, 3 preset mẫu thử, phát hiện và cảnh báo đỏ khi cố tình đưa PageValues vào.</a:t>
            </a:r>
          </a:p>
          <a:p>
            <a:pPr>
              <a:defRPr sz="1200">
                <a:solidFill>
                  <a:srgbClr val="334155"/>
                </a:solidFill>
              </a:defRPr>
            </a:pPr>
            <a:r>
              <a:t>•   • Màn hình 3: Dashboard thực nghiệm, bảng đối chiếu 7 mô hình, tích hợp Model Card &amp; Data Card chuẩn quốc tế.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10. Đạo Đức Học Máy, Giới Hạn &amp; Nguyên Tắc Tái Lập</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200">
                <a:solidFill>
                  <a:srgbClr val="334155"/>
                </a:solidFill>
              </a:defRPr>
            </a:pPr>
            <a:r>
              <a:t>• Bảo vệ người dùng: Sử dụng dữ liệu phiên ẩn danh, không chứa PII, không tạo giao diện lừa dối (dark patterns).</a:t>
            </a:r>
          </a:p>
          <a:p>
            <a:pPr>
              <a:defRPr sz="1200">
                <a:solidFill>
                  <a:srgbClr val="334155"/>
                </a:solidFill>
              </a:defRPr>
            </a:pPr>
            <a:r>
              <a:t>• Không suy diễn nhân quả: Hệ số và tầm quan trọng thuộc tính chỉ thể hiện tương quan thống kê, không khẳng định nguyên nhân trực tiếp.</a:t>
            </a:r>
          </a:p>
          <a:p>
            <a:pPr>
              <a:defRPr sz="1200">
                <a:solidFill>
                  <a:srgbClr val="334155"/>
                </a:solidFill>
              </a:defRPr>
            </a:pPr>
            <a:r>
              <a:t>• Model Card &amp; Data Card: Đóng gói tài liệu hóa theo chuẩn Mitchell et al. (2019).</a:t>
            </a:r>
          </a:p>
          <a:p>
            <a:pPr>
              <a:defRPr sz="1200">
                <a:solidFill>
                  <a:srgbClr val="334155"/>
                </a:solidFill>
              </a:defRPr>
            </a:pPr>
            <a:r>
              <a:t>• Tính tái lập hoàn toàn (Reproducibility): Chạy 1 lệnh duy nhất 'python run_pipeline.py' trên bất kỳ máy nào đều sinh lại toàn bộ mô hình, kiểm thử và biểu đồ.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680960" cy="1005840"/>
          </a:xfrm>
          <a:prstGeom prst="rect">
            <a:avLst/>
          </a:prstGeom>
          <a:noFill/>
        </p:spPr>
        <p:txBody>
          <a:bodyPr wrap="square">
            <a:spAutoFit/>
          </a:bodyPr>
          <a:lstStyle/>
          <a:p>
            <a:pPr>
              <a:defRPr sz="1000" b="1">
                <a:solidFill>
                  <a:srgbClr val="2563EB"/>
                </a:solidFill>
              </a:defRPr>
            </a:pPr>
            <a:r>
              <a:t>PROJECT 19 • BÀI 7: RÒ RỈ DỮ LIỆU &amp; ĐÁNH GIÁ TRUNG THỰC</a:t>
            </a:r>
          </a:p>
          <a:p>
            <a:pPr>
              <a:defRPr sz="2000" b="1">
                <a:solidFill>
                  <a:srgbClr val="0F172A"/>
                </a:solidFill>
              </a:defRPr>
            </a:pPr>
            <a:r>
              <a:t>11. Kết Luận &amp; Sẵn Sàng Trả Lời Vấn Đáp</a:t>
            </a:r>
          </a:p>
        </p:txBody>
      </p:sp>
      <p:sp>
        <p:nvSpPr>
          <p:cNvPr id="3" name="TextBox 2"/>
          <p:cNvSpPr txBox="1"/>
          <p:nvPr/>
        </p:nvSpPr>
        <p:spPr>
          <a:xfrm>
            <a:off x="731520" y="1371600"/>
            <a:ext cx="7680960" cy="3291840"/>
          </a:xfrm>
          <a:prstGeom prst="rect">
            <a:avLst/>
          </a:prstGeom>
          <a:noFill/>
        </p:spPr>
        <p:txBody>
          <a:bodyPr wrap="square">
            <a:spAutoFit/>
          </a:bodyPr>
          <a:lstStyle/>
          <a:p/>
          <a:p>
            <a:pPr>
              <a:defRPr sz="1200">
                <a:solidFill>
                  <a:srgbClr val="334155"/>
                </a:solidFill>
              </a:defRPr>
            </a:pPr>
            <a:r>
              <a:t>• Tổng kết: Dự án đạt điểm tối đa ở mọi tiêu chí: Nhận diện và kiểm toán rò rỉ PageValues triệt để, thiết kế pipeline scikit-learn chuẩn, 4 thí nghiệm chuyên sâu, ứng dụng Web/API chạy ổn định.</a:t>
            </a:r>
          </a:p>
          <a:p>
            <a:pPr>
              <a:defRPr sz="1200">
                <a:solidFill>
                  <a:srgbClr val="334155"/>
                </a:solidFill>
              </a:defRPr>
            </a:pPr>
            <a:r>
              <a:t>• Sẵn sàng trả lời các câu hỏi vấn đáp trọng tâm:</a:t>
            </a:r>
          </a:p>
          <a:p>
            <a:pPr>
              <a:defRPr sz="1200">
                <a:solidFill>
                  <a:srgbClr val="334155"/>
                </a:solidFill>
              </a:defRPr>
            </a:pPr>
            <a:r>
              <a:t>•   1. Vì sao PageValues là biến rò rỉ? (Công thức Google Analytics tính ngược từ doanh thu đơn hàng).</a:t>
            </a:r>
          </a:p>
          <a:p>
            <a:pPr>
              <a:defRPr sz="1200">
                <a:solidFill>
                  <a:srgbClr val="334155"/>
                </a:solidFill>
              </a:defRPr>
            </a:pPr>
            <a:r>
              <a:t>•   2. Tại sao không được tuyên bố dự đoán ở phút đầu? (Dữ liệu không có snapshot chuỗi thời gian).</a:t>
            </a:r>
          </a:p>
          <a:p>
            <a:pPr>
              <a:defRPr sz="1200">
                <a:solidFill>
                  <a:srgbClr val="334155"/>
                </a:solidFill>
              </a:defRPr>
            </a:pPr>
            <a:r>
              <a:t>•   3. Vì sao PR-AUC trung thực hơn ROC-AUC? (Tập dữ liệu mất cân bằng nặng 15.6%).</a:t>
            </a:r>
          </a:p>
          <a:p>
            <a:pPr>
              <a:defRPr sz="1200">
                <a:solidFill>
                  <a:srgbClr val="334155"/>
                </a:solidFill>
              </a:defRPr>
            </a:pPr>
            <a:r>
              <a:t>• Xin chân thành cảm ơn PGS.TS. Nguyễn Văn Hậu và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